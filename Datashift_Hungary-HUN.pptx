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6"/>
  </p:notesMasterIdLst>
  <p:sldIdLst>
    <p:sldId id="256" r:id="rId2"/>
    <p:sldId id="297" r:id="rId3"/>
    <p:sldId id="309" r:id="rId4"/>
    <p:sldId id="310" r:id="rId5"/>
    <p:sldId id="296" r:id="rId6"/>
    <p:sldId id="298" r:id="rId7"/>
    <p:sldId id="299" r:id="rId8"/>
    <p:sldId id="303" r:id="rId9"/>
    <p:sldId id="300" r:id="rId10"/>
    <p:sldId id="307" r:id="rId11"/>
    <p:sldId id="308" r:id="rId12"/>
    <p:sldId id="301" r:id="rId13"/>
    <p:sldId id="302" r:id="rId14"/>
    <p:sldId id="311" r:id="rId15"/>
  </p:sldIdLst>
  <p:sldSz cx="9144000" cy="5143500" type="screen16x9"/>
  <p:notesSz cx="6858000" cy="9144000"/>
  <p:embeddedFontLst>
    <p:embeddedFont>
      <p:font typeface="Aldrich" panose="02000000000000000000" pitchFamily="2" charset="0"/>
      <p:regular r:id="rId17"/>
    </p:embeddedFont>
    <p:embeddedFont>
      <p:font typeface="Saira" panose="020B0604020202020204" charset="-18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2D8B2"/>
    <a:srgbClr val="8EACC1"/>
    <a:srgbClr val="A3C1AD"/>
    <a:srgbClr val="00FBFF"/>
    <a:srgbClr val="00A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DEDB5F-2FFE-4770-94B0-66A6F4EB728D}" v="4" dt="2026-09-14T08:56:47.495"/>
  </p1510:revLst>
</p1510:revInfo>
</file>

<file path=ppt/tableStyles.xml><?xml version="1.0" encoding="utf-8"?>
<a:tblStyleLst xmlns:a="http://schemas.openxmlformats.org/drawingml/2006/main" def="{2011B9A5-7A01-4EF9-A8D8-08C42773B7A3}">
  <a:tblStyle styleId="{2011B9A5-7A01-4EF9-A8D8-08C42773B7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54FC992-433E-4801-8CB7-CF62F45EF48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77" d="100"/>
          <a:sy n="77" d="100"/>
        </p:scale>
        <p:origin x="54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#2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4A46D0-F13B-4063-9EF9-B047ED936E78}" type="doc">
      <dgm:prSet loTypeId="urn:microsoft.com/office/officeart/2005/8/layout/process4" loCatId="process" qsTypeId="urn:microsoft.com/office/officeart/2005/8/quickstyle/simple1#1" qsCatId="simple" csTypeId="urn:microsoft.com/office/officeart/2005/8/colors/accent0_1#1" csCatId="mainScheme" phldr="1"/>
      <dgm:spPr/>
      <dgm:t>
        <a:bodyPr/>
        <a:lstStyle/>
        <a:p>
          <a:endParaRPr lang="hu-HU"/>
        </a:p>
      </dgm:t>
    </dgm:pt>
    <dgm:pt modelId="{35200787-5283-4A1D-8CC7-D08F2F9C8469}">
      <dgm:prSet phldrT="[Szöveg]" custT="1"/>
      <dgm:spPr/>
      <dgm:t>
        <a:bodyPr/>
        <a:lstStyle/>
        <a:p>
          <a:pPr>
            <a:buFont typeface="+mj-lt"/>
            <a:buAutoNum type="arabicPeriod"/>
          </a:pPr>
          <a:r>
            <a:rPr lang="hu-HU" sz="1400" b="0" i="0" dirty="0">
              <a:latin typeface="Aldrich" panose="020B0604020202020204" charset="0"/>
            </a:rPr>
            <a:t>1. Cég- és projekttervezés</a:t>
          </a:r>
        </a:p>
        <a:p>
          <a:r>
            <a:rPr lang="hu-HU" sz="1400" b="0" i="0" dirty="0">
              <a:latin typeface="Aldrich" panose="020B0604020202020204" charset="0"/>
            </a:rPr>
            <a:t>A Datashift Hungary céljainak meghatározása, az irodák és a nyújtott szolgáltatások tervezése.</a:t>
          </a:r>
          <a:endParaRPr lang="hu-HU" sz="105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EACD7093-63ED-4F20-BEF4-E503B855FE6B}" type="parTrans" cxnId="{6E14AF4E-FD6B-4616-95EF-618502FE4522}">
      <dgm:prSet/>
      <dgm:spPr/>
      <dgm:t>
        <a:bodyPr/>
        <a:lstStyle/>
        <a:p>
          <a:endParaRPr lang="hu-HU"/>
        </a:p>
      </dgm:t>
    </dgm:pt>
    <dgm:pt modelId="{2EE94A39-1CFA-4837-9A68-38EAF6C660B3}" type="sibTrans" cxnId="{6E14AF4E-FD6B-4616-95EF-618502FE4522}">
      <dgm:prSet/>
      <dgm:spPr/>
      <dgm:t>
        <a:bodyPr/>
        <a:lstStyle/>
        <a:p>
          <a:endParaRPr lang="hu-HU"/>
        </a:p>
      </dgm:t>
    </dgm:pt>
    <dgm:pt modelId="{38F324CF-3F48-4554-ADC7-C393B9658C70}">
      <dgm:prSet phldrT="[Szöveg]"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hu-HU" sz="1400" b="0" i="0" dirty="0">
              <a:latin typeface="Aldrich" panose="020B0604020202020204" charset="0"/>
            </a:rPr>
            <a:t>2. Hálózati követelmények felmérése</a:t>
          </a:r>
        </a:p>
        <a:p>
          <a:r>
            <a:rPr lang="hu-HU" sz="1400" b="0" i="0" dirty="0">
              <a:latin typeface="Aldrich" panose="020B0604020202020204" charset="0"/>
            </a:rPr>
            <a:t>A munkavállalók és eszközök számának meghatározása; a hálózati topológia és a VLAN-ok</a:t>
          </a:r>
        </a:p>
        <a:p>
          <a:r>
            <a:rPr lang="hu-HU" sz="1400" b="0" i="0" dirty="0">
              <a:latin typeface="Aldrich" panose="020B0604020202020204" charset="0"/>
            </a:rPr>
            <a:t>megtervezése.</a:t>
          </a:r>
          <a:endParaRPr lang="hu-HU" sz="105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49432999-D152-4195-9016-31FC7C17FF0E}" type="parTrans" cxnId="{C6D862B9-6387-4535-823C-BE5F7EB17EB3}">
      <dgm:prSet/>
      <dgm:spPr/>
      <dgm:t>
        <a:bodyPr/>
        <a:lstStyle/>
        <a:p>
          <a:endParaRPr lang="hu-HU"/>
        </a:p>
      </dgm:t>
    </dgm:pt>
    <dgm:pt modelId="{335402B9-46DA-4DCC-9FB3-2044B303D0D5}" type="sibTrans" cxnId="{C6D862B9-6387-4535-823C-BE5F7EB17EB3}">
      <dgm:prSet/>
      <dgm:spPr/>
      <dgm:t>
        <a:bodyPr/>
        <a:lstStyle/>
        <a:p>
          <a:endParaRPr lang="hu-HU"/>
        </a:p>
      </dgm:t>
    </dgm:pt>
    <dgm:pt modelId="{96BF9F3C-3F2E-4552-8F68-F2DB403D1D2E}">
      <dgm:prSet phldrT="[Szöveg]" phldr="0" custT="1"/>
      <dgm:spPr/>
      <dgm:t>
        <a:bodyPr/>
        <a:lstStyle/>
        <a:p>
          <a:r>
            <a:rPr lang="hu-HU" sz="1400" dirty="0">
              <a:latin typeface="Aldrich" panose="020B0604020202020204" charset="0"/>
            </a:rPr>
            <a:t>3. Prototípus topológia kiépítése</a:t>
          </a:r>
        </a:p>
        <a:p>
          <a:r>
            <a:rPr lang="hu-HU" sz="1400" dirty="0">
              <a:latin typeface="Aldrich" panose="020B0604020202020204" charset="0"/>
            </a:rPr>
            <a:t>Routerek, </a:t>
          </a:r>
          <a:r>
            <a:rPr lang="hu-HU" sz="1400" dirty="0" err="1">
              <a:latin typeface="Aldrich" panose="020B0604020202020204" charset="0"/>
            </a:rPr>
            <a:t>switchek</a:t>
          </a:r>
          <a:r>
            <a:rPr lang="hu-HU" sz="1400" dirty="0">
              <a:latin typeface="Aldrich" panose="020B0604020202020204" charset="0"/>
            </a:rPr>
            <a:t> és szerverek elhelyezése; IPv4/IPv6 címzés, DHCP, DNS és OSPF útvonalválasztás</a:t>
          </a:r>
        </a:p>
        <a:p>
          <a:r>
            <a:rPr lang="hu-HU" sz="1400" dirty="0">
              <a:latin typeface="Aldrich" panose="020B0604020202020204" charset="0"/>
            </a:rPr>
            <a:t>beállítása.</a:t>
          </a:r>
          <a:endParaRPr lang="hu-HU" sz="105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377AE69E-32DC-4313-9D70-F1386F128131}" type="parTrans" cxnId="{473BBDAC-B916-4422-8298-6061046BA4ED}">
      <dgm:prSet/>
      <dgm:spPr/>
      <dgm:t>
        <a:bodyPr/>
        <a:lstStyle/>
        <a:p>
          <a:endParaRPr lang="hu-HU"/>
        </a:p>
      </dgm:t>
    </dgm:pt>
    <dgm:pt modelId="{AECB731E-71CD-4548-9F31-0570838A648E}" type="sibTrans" cxnId="{473BBDAC-B916-4422-8298-6061046BA4ED}">
      <dgm:prSet/>
      <dgm:spPr/>
      <dgm:t>
        <a:bodyPr/>
        <a:lstStyle/>
        <a:p>
          <a:endParaRPr lang="hu-HU"/>
        </a:p>
      </dgm:t>
    </dgm:pt>
    <dgm:pt modelId="{C57762B1-3952-4C20-83D7-FDD8C2ED1F0B}" type="pres">
      <dgm:prSet presAssocID="{1D4A46D0-F13B-4063-9EF9-B047ED936E78}" presName="Name0" presStyleCnt="0">
        <dgm:presLayoutVars>
          <dgm:dir/>
          <dgm:animLvl val="lvl"/>
          <dgm:resizeHandles val="exact"/>
        </dgm:presLayoutVars>
      </dgm:prSet>
      <dgm:spPr/>
    </dgm:pt>
    <dgm:pt modelId="{48159978-F33E-4EA0-80F5-6F2C8E59192A}" type="pres">
      <dgm:prSet presAssocID="{96BF9F3C-3F2E-4552-8F68-F2DB403D1D2E}" presName="boxAndChildren" presStyleCnt="0"/>
      <dgm:spPr/>
    </dgm:pt>
    <dgm:pt modelId="{7AB70F95-2BE5-4EC8-A0D1-27ACBD45B610}" type="pres">
      <dgm:prSet presAssocID="{96BF9F3C-3F2E-4552-8F68-F2DB403D1D2E}" presName="parentTextBox" presStyleLbl="node1" presStyleIdx="0" presStyleCnt="3"/>
      <dgm:spPr/>
    </dgm:pt>
    <dgm:pt modelId="{617DC7BF-AE97-4AAD-B3A2-F14BF7B8BF39}" type="pres">
      <dgm:prSet presAssocID="{335402B9-46DA-4DCC-9FB3-2044B303D0D5}" presName="sp" presStyleCnt="0"/>
      <dgm:spPr/>
    </dgm:pt>
    <dgm:pt modelId="{A05952EF-B3A7-4E43-83F7-24FB3036F234}" type="pres">
      <dgm:prSet presAssocID="{38F324CF-3F48-4554-ADC7-C393B9658C70}" presName="arrowAndChildren" presStyleCnt="0"/>
      <dgm:spPr/>
    </dgm:pt>
    <dgm:pt modelId="{9B8CF3D9-8EC6-4278-A7C7-27FBE7F0D635}" type="pres">
      <dgm:prSet presAssocID="{38F324CF-3F48-4554-ADC7-C393B9658C70}" presName="parentTextArrow" presStyleLbl="node1" presStyleIdx="1" presStyleCnt="3"/>
      <dgm:spPr/>
    </dgm:pt>
    <dgm:pt modelId="{433ECBC7-29A3-4887-889A-E038DF9B126F}" type="pres">
      <dgm:prSet presAssocID="{2EE94A39-1CFA-4837-9A68-38EAF6C660B3}" presName="sp" presStyleCnt="0"/>
      <dgm:spPr/>
    </dgm:pt>
    <dgm:pt modelId="{3805D339-232E-47A2-9E3B-AD890CEEC805}" type="pres">
      <dgm:prSet presAssocID="{35200787-5283-4A1D-8CC7-D08F2F9C8469}" presName="arrowAndChildren" presStyleCnt="0"/>
      <dgm:spPr/>
    </dgm:pt>
    <dgm:pt modelId="{E7B28C12-3069-4CEC-8AB0-1C15F5609090}" type="pres">
      <dgm:prSet presAssocID="{35200787-5283-4A1D-8CC7-D08F2F9C8469}" presName="parentTextArrow" presStyleLbl="node1" presStyleIdx="2" presStyleCnt="3" custLinFactNeighborY="-18524"/>
      <dgm:spPr/>
    </dgm:pt>
  </dgm:ptLst>
  <dgm:cxnLst>
    <dgm:cxn modelId="{D58A6A2F-8E64-4C62-9A11-481878AD1EF2}" type="presOf" srcId="{96BF9F3C-3F2E-4552-8F68-F2DB403D1D2E}" destId="{7AB70F95-2BE5-4EC8-A0D1-27ACBD45B610}" srcOrd="0" destOrd="0" presId="urn:microsoft.com/office/officeart/2005/8/layout/process4"/>
    <dgm:cxn modelId="{6E14AF4E-FD6B-4616-95EF-618502FE4522}" srcId="{1D4A46D0-F13B-4063-9EF9-B047ED936E78}" destId="{35200787-5283-4A1D-8CC7-D08F2F9C8469}" srcOrd="0" destOrd="0" parTransId="{EACD7093-63ED-4F20-BEF4-E503B855FE6B}" sibTransId="{2EE94A39-1CFA-4837-9A68-38EAF6C660B3}"/>
    <dgm:cxn modelId="{DCEBDDAB-4700-4366-9845-CCD4FF890C13}" type="presOf" srcId="{35200787-5283-4A1D-8CC7-D08F2F9C8469}" destId="{E7B28C12-3069-4CEC-8AB0-1C15F5609090}" srcOrd="0" destOrd="0" presId="urn:microsoft.com/office/officeart/2005/8/layout/process4"/>
    <dgm:cxn modelId="{473BBDAC-B916-4422-8298-6061046BA4ED}" srcId="{1D4A46D0-F13B-4063-9EF9-B047ED936E78}" destId="{96BF9F3C-3F2E-4552-8F68-F2DB403D1D2E}" srcOrd="2" destOrd="0" parTransId="{377AE69E-32DC-4313-9D70-F1386F128131}" sibTransId="{AECB731E-71CD-4548-9F31-0570838A648E}"/>
    <dgm:cxn modelId="{C6D862B9-6387-4535-823C-BE5F7EB17EB3}" srcId="{1D4A46D0-F13B-4063-9EF9-B047ED936E78}" destId="{38F324CF-3F48-4554-ADC7-C393B9658C70}" srcOrd="1" destOrd="0" parTransId="{49432999-D152-4195-9016-31FC7C17FF0E}" sibTransId="{335402B9-46DA-4DCC-9FB3-2044B303D0D5}"/>
    <dgm:cxn modelId="{4540B2DF-97F8-4D0F-88B1-30A31B85E61F}" type="presOf" srcId="{1D4A46D0-F13B-4063-9EF9-B047ED936E78}" destId="{C57762B1-3952-4C20-83D7-FDD8C2ED1F0B}" srcOrd="0" destOrd="0" presId="urn:microsoft.com/office/officeart/2005/8/layout/process4"/>
    <dgm:cxn modelId="{92AB2AE5-8ED3-439A-8A7E-A1D2C9E7A76D}" type="presOf" srcId="{38F324CF-3F48-4554-ADC7-C393B9658C70}" destId="{9B8CF3D9-8EC6-4278-A7C7-27FBE7F0D635}" srcOrd="0" destOrd="0" presId="urn:microsoft.com/office/officeart/2005/8/layout/process4"/>
    <dgm:cxn modelId="{0711BD8F-96C6-4B54-B232-BE24E9724BF6}" type="presParOf" srcId="{C57762B1-3952-4C20-83D7-FDD8C2ED1F0B}" destId="{48159978-F33E-4EA0-80F5-6F2C8E59192A}" srcOrd="0" destOrd="0" presId="urn:microsoft.com/office/officeart/2005/8/layout/process4"/>
    <dgm:cxn modelId="{E924A2CB-069E-4347-A1A3-6DC71E04D90C}" type="presParOf" srcId="{48159978-F33E-4EA0-80F5-6F2C8E59192A}" destId="{7AB70F95-2BE5-4EC8-A0D1-27ACBD45B610}" srcOrd="0" destOrd="0" presId="urn:microsoft.com/office/officeart/2005/8/layout/process4"/>
    <dgm:cxn modelId="{4D949F8A-C464-4134-8E16-AD379E7EAC5B}" type="presParOf" srcId="{C57762B1-3952-4C20-83D7-FDD8C2ED1F0B}" destId="{617DC7BF-AE97-4AAD-B3A2-F14BF7B8BF39}" srcOrd="1" destOrd="0" presId="urn:microsoft.com/office/officeart/2005/8/layout/process4"/>
    <dgm:cxn modelId="{52F61EB0-C133-4B83-BA19-45C927190C1B}" type="presParOf" srcId="{C57762B1-3952-4C20-83D7-FDD8C2ED1F0B}" destId="{A05952EF-B3A7-4E43-83F7-24FB3036F234}" srcOrd="2" destOrd="0" presId="urn:microsoft.com/office/officeart/2005/8/layout/process4"/>
    <dgm:cxn modelId="{B3372604-71A3-429D-A24D-FE085F3D8814}" type="presParOf" srcId="{A05952EF-B3A7-4E43-83F7-24FB3036F234}" destId="{9B8CF3D9-8EC6-4278-A7C7-27FBE7F0D635}" srcOrd="0" destOrd="0" presId="urn:microsoft.com/office/officeart/2005/8/layout/process4"/>
    <dgm:cxn modelId="{35FC4AB1-7566-4711-B19C-B887369662AD}" type="presParOf" srcId="{C57762B1-3952-4C20-83D7-FDD8C2ED1F0B}" destId="{433ECBC7-29A3-4887-889A-E038DF9B126F}" srcOrd="3" destOrd="0" presId="urn:microsoft.com/office/officeart/2005/8/layout/process4"/>
    <dgm:cxn modelId="{EAB7BF66-EBC2-4911-8C36-AFEE868C8A5A}" type="presParOf" srcId="{C57762B1-3952-4C20-83D7-FDD8C2ED1F0B}" destId="{3805D339-232E-47A2-9E3B-AD890CEEC805}" srcOrd="4" destOrd="0" presId="urn:microsoft.com/office/officeart/2005/8/layout/process4"/>
    <dgm:cxn modelId="{51D2A9CC-290D-4AC3-93F2-C56440E281A0}" type="presParOf" srcId="{3805D339-232E-47A2-9E3B-AD890CEEC805}" destId="{E7B28C12-3069-4CEC-8AB0-1C15F560909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4A46D0-F13B-4063-9EF9-B047ED936E78}" type="doc">
      <dgm:prSet loTypeId="urn:microsoft.com/office/officeart/2005/8/layout/process4" loCatId="process" qsTypeId="urn:microsoft.com/office/officeart/2005/8/quickstyle/simple1#2" qsCatId="simple" csTypeId="urn:microsoft.com/office/officeart/2005/8/colors/accent0_1#2" csCatId="mainScheme" phldr="1"/>
      <dgm:spPr/>
      <dgm:t>
        <a:bodyPr/>
        <a:lstStyle/>
        <a:p>
          <a:endParaRPr lang="hu-HU"/>
        </a:p>
      </dgm:t>
    </dgm:pt>
    <dgm:pt modelId="{35200787-5283-4A1D-8CC7-D08F2F9C8469}">
      <dgm:prSet phldrT="[Szöveg]" custT="1"/>
      <dgm:spPr/>
      <dgm:t>
        <a:bodyPr/>
        <a:lstStyle/>
        <a:p>
          <a:pPr>
            <a:buFont typeface="+mj-lt"/>
            <a:buAutoNum type="arabicPeriod"/>
          </a:pPr>
          <a:r>
            <a:rPr lang="hu-HU" sz="1400" dirty="0">
              <a:latin typeface="Aldrich" panose="020B0604020202020204" charset="0"/>
            </a:rPr>
            <a:t>4. Biztonság és szerverek beállítása</a:t>
          </a:r>
        </a:p>
        <a:p>
          <a:r>
            <a:rPr lang="hu-HU" sz="1400" dirty="0">
              <a:latin typeface="Aldrich" panose="020B0604020202020204" charset="0"/>
            </a:rPr>
            <a:t>Tűzfalak (Cisco ASA), Access </a:t>
          </a:r>
          <a:r>
            <a:rPr lang="hu-HU" sz="1400" dirty="0" err="1">
              <a:latin typeface="Aldrich" panose="020B0604020202020204" charset="0"/>
            </a:rPr>
            <a:t>Control</a:t>
          </a:r>
          <a:r>
            <a:rPr lang="hu-HU" sz="1400" dirty="0">
              <a:latin typeface="Aldrich" panose="020B0604020202020204" charset="0"/>
            </a:rPr>
            <a:t> List-ek (ACL) és VPN </a:t>
          </a:r>
          <a:r>
            <a:rPr lang="hu-HU" sz="1400" dirty="0" err="1">
              <a:latin typeface="Aldrich" panose="020B0604020202020204" charset="0"/>
            </a:rPr>
            <a:t>setup</a:t>
          </a:r>
          <a:r>
            <a:rPr lang="hu-HU" sz="1400" dirty="0">
              <a:latin typeface="Aldrich" panose="020B0604020202020204" charset="0"/>
            </a:rPr>
            <a:t>; Web- és </a:t>
          </a:r>
          <a:r>
            <a:rPr lang="hu-HU" sz="1400" dirty="0" err="1">
              <a:latin typeface="Aldrich" panose="020B0604020202020204" charset="0"/>
            </a:rPr>
            <a:t>Active</a:t>
          </a:r>
          <a:r>
            <a:rPr lang="hu-HU" sz="1400" dirty="0">
              <a:latin typeface="Aldrich" panose="020B0604020202020204" charset="0"/>
            </a:rPr>
            <a:t> </a:t>
          </a:r>
          <a:r>
            <a:rPr lang="hu-HU" sz="1400" dirty="0" err="1">
              <a:latin typeface="Aldrich" panose="020B0604020202020204" charset="0"/>
            </a:rPr>
            <a:t>Directory</a:t>
          </a:r>
          <a:r>
            <a:rPr lang="hu-HU" sz="1400" dirty="0">
              <a:latin typeface="Aldrich" panose="020B0604020202020204" charset="0"/>
            </a:rPr>
            <a:t> szerverek</a:t>
          </a:r>
        </a:p>
        <a:p>
          <a:r>
            <a:rPr lang="hu-HU" sz="1400" dirty="0">
              <a:latin typeface="Aldrich" panose="020B0604020202020204" charset="0"/>
            </a:rPr>
            <a:t>konfigurálása.</a:t>
          </a:r>
          <a:endParaRPr lang="hu-HU" sz="105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EACD7093-63ED-4F20-BEF4-E503B855FE6B}" type="parTrans" cxnId="{6E14AF4E-FD6B-4616-95EF-618502FE4522}">
      <dgm:prSet/>
      <dgm:spPr/>
      <dgm:t>
        <a:bodyPr/>
        <a:lstStyle/>
        <a:p>
          <a:endParaRPr lang="hu-HU"/>
        </a:p>
      </dgm:t>
    </dgm:pt>
    <dgm:pt modelId="{2EE94A39-1CFA-4837-9A68-38EAF6C660B3}" type="sibTrans" cxnId="{6E14AF4E-FD6B-4616-95EF-618502FE4522}">
      <dgm:prSet/>
      <dgm:spPr/>
      <dgm:t>
        <a:bodyPr/>
        <a:lstStyle/>
        <a:p>
          <a:endParaRPr lang="hu-HU"/>
        </a:p>
      </dgm:t>
    </dgm:pt>
    <dgm:pt modelId="{38F324CF-3F48-4554-ADC7-C393B9658C70}">
      <dgm:prSet phldrT="[Szöveg]" phldr="0" custT="1"/>
      <dgm:spPr/>
      <dgm:t>
        <a:bodyPr/>
        <a:lstStyle/>
        <a:p>
          <a:r>
            <a:rPr lang="hu-HU" sz="1400" dirty="0">
              <a:latin typeface="Aldrich" panose="020B0604020202020204" charset="0"/>
            </a:rPr>
            <a:t>5. Tesztelés és hibakeresés</a:t>
          </a:r>
        </a:p>
        <a:p>
          <a:r>
            <a:rPr lang="hu-HU" sz="1400" dirty="0">
              <a:latin typeface="Aldrich" panose="020B0604020202020204" charset="0"/>
            </a:rPr>
            <a:t>Az irodák közötti (site-</a:t>
          </a:r>
          <a:r>
            <a:rPr lang="hu-HU" sz="1400" dirty="0" err="1">
              <a:latin typeface="Aldrich" panose="020B0604020202020204" charset="0"/>
            </a:rPr>
            <a:t>to</a:t>
          </a:r>
          <a:r>
            <a:rPr lang="hu-HU" sz="1400" dirty="0">
              <a:latin typeface="Aldrich" panose="020B0604020202020204" charset="0"/>
            </a:rPr>
            <a:t>-site) </a:t>
          </a:r>
          <a:r>
            <a:rPr lang="hu-HU" sz="1400" dirty="0" err="1">
              <a:latin typeface="Aldrich" panose="020B0604020202020204" charset="0"/>
            </a:rPr>
            <a:t>connectivity</a:t>
          </a:r>
          <a:r>
            <a:rPr lang="hu-HU" sz="1400" dirty="0">
              <a:latin typeface="Aldrich" panose="020B0604020202020204" charset="0"/>
            </a:rPr>
            <a:t>, az internetelérés és a hálózati szolgáltatások átfogó</a:t>
          </a:r>
        </a:p>
        <a:p>
          <a:r>
            <a:rPr lang="hu-HU" sz="1400" dirty="0">
              <a:latin typeface="Aldrich" panose="020B0604020202020204" charset="0"/>
            </a:rPr>
            <a:t>tesztelése.</a:t>
          </a:r>
          <a:endParaRPr lang="hu-HU" sz="105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49432999-D152-4195-9016-31FC7C17FF0E}" type="parTrans" cxnId="{C6D862B9-6387-4535-823C-BE5F7EB17EB3}">
      <dgm:prSet/>
      <dgm:spPr/>
      <dgm:t>
        <a:bodyPr/>
        <a:lstStyle/>
        <a:p>
          <a:endParaRPr lang="hu-HU"/>
        </a:p>
      </dgm:t>
    </dgm:pt>
    <dgm:pt modelId="{335402B9-46DA-4DCC-9FB3-2044B303D0D5}" type="sibTrans" cxnId="{C6D862B9-6387-4535-823C-BE5F7EB17EB3}">
      <dgm:prSet/>
      <dgm:spPr/>
      <dgm:t>
        <a:bodyPr/>
        <a:lstStyle/>
        <a:p>
          <a:endParaRPr lang="hu-HU"/>
        </a:p>
      </dgm:t>
    </dgm:pt>
    <dgm:pt modelId="{96BF9F3C-3F2E-4552-8F68-F2DB403D1D2E}">
      <dgm:prSet phldrT="[Szöveg]" phldr="0" custT="1"/>
      <dgm:spPr/>
      <dgm:t>
        <a:bodyPr/>
        <a:lstStyle/>
        <a:p>
          <a:r>
            <a:rPr lang="hu-HU" sz="1400" dirty="0">
              <a:latin typeface="Aldrich" panose="020B0604020202020204" charset="0"/>
            </a:rPr>
            <a:t>6. Dokumentáció és </a:t>
          </a:r>
          <a:r>
            <a:rPr lang="hu-HU" sz="1400" dirty="0" err="1">
              <a:latin typeface="Aldrich" panose="020B0604020202020204" charset="0"/>
            </a:rPr>
            <a:t>presentation</a:t>
          </a:r>
          <a:endParaRPr lang="hu-HU" sz="1400" dirty="0">
            <a:latin typeface="Aldrich" panose="020B0604020202020204" charset="0"/>
          </a:endParaRPr>
        </a:p>
        <a:p>
          <a:r>
            <a:rPr lang="hu-HU" sz="1400" dirty="0">
              <a:latin typeface="Aldrich" panose="020B0604020202020204" charset="0"/>
            </a:rPr>
            <a:t>Teljes körű dokumentálás Word formátumban, valamint PowerPoint prezentáció készítése és</a:t>
          </a:r>
        </a:p>
        <a:p>
          <a:r>
            <a:rPr lang="hu-HU" sz="1400" dirty="0">
              <a:latin typeface="Aldrich" panose="020B0604020202020204" charset="0"/>
            </a:rPr>
            <a:t>véglegesítése.</a:t>
          </a:r>
          <a:endParaRPr lang="hu-HU" sz="105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377AE69E-32DC-4313-9D70-F1386F128131}" type="parTrans" cxnId="{473BBDAC-B916-4422-8298-6061046BA4ED}">
      <dgm:prSet/>
      <dgm:spPr/>
      <dgm:t>
        <a:bodyPr/>
        <a:lstStyle/>
        <a:p>
          <a:endParaRPr lang="hu-HU"/>
        </a:p>
      </dgm:t>
    </dgm:pt>
    <dgm:pt modelId="{AECB731E-71CD-4548-9F31-0570838A648E}" type="sibTrans" cxnId="{473BBDAC-B916-4422-8298-6061046BA4ED}">
      <dgm:prSet/>
      <dgm:spPr/>
      <dgm:t>
        <a:bodyPr/>
        <a:lstStyle/>
        <a:p>
          <a:endParaRPr lang="hu-HU"/>
        </a:p>
      </dgm:t>
    </dgm:pt>
    <dgm:pt modelId="{C57762B1-3952-4C20-83D7-FDD8C2ED1F0B}" type="pres">
      <dgm:prSet presAssocID="{1D4A46D0-F13B-4063-9EF9-B047ED936E78}" presName="Name0" presStyleCnt="0">
        <dgm:presLayoutVars>
          <dgm:dir/>
          <dgm:animLvl val="lvl"/>
          <dgm:resizeHandles val="exact"/>
        </dgm:presLayoutVars>
      </dgm:prSet>
      <dgm:spPr/>
    </dgm:pt>
    <dgm:pt modelId="{9557B599-23E0-49DE-BAFB-2BF7BAA3293B}" type="pres">
      <dgm:prSet presAssocID="{96BF9F3C-3F2E-4552-8F68-F2DB403D1D2E}" presName="boxAndChildren" presStyleCnt="0"/>
      <dgm:spPr/>
    </dgm:pt>
    <dgm:pt modelId="{405D9659-0AED-497C-AA6C-BF4CC746DEDF}" type="pres">
      <dgm:prSet presAssocID="{96BF9F3C-3F2E-4552-8F68-F2DB403D1D2E}" presName="parentTextBox" presStyleLbl="node1" presStyleIdx="0" presStyleCnt="3"/>
      <dgm:spPr/>
    </dgm:pt>
    <dgm:pt modelId="{617DC7BF-AE97-4AAD-B3A2-F14BF7B8BF39}" type="pres">
      <dgm:prSet presAssocID="{335402B9-46DA-4DCC-9FB3-2044B303D0D5}" presName="sp" presStyleCnt="0"/>
      <dgm:spPr/>
    </dgm:pt>
    <dgm:pt modelId="{A05952EF-B3A7-4E43-83F7-24FB3036F234}" type="pres">
      <dgm:prSet presAssocID="{38F324CF-3F48-4554-ADC7-C393B9658C70}" presName="arrowAndChildren" presStyleCnt="0"/>
      <dgm:spPr/>
    </dgm:pt>
    <dgm:pt modelId="{9B8CF3D9-8EC6-4278-A7C7-27FBE7F0D635}" type="pres">
      <dgm:prSet presAssocID="{38F324CF-3F48-4554-ADC7-C393B9658C70}" presName="parentTextArrow" presStyleLbl="node1" presStyleIdx="1" presStyleCnt="3"/>
      <dgm:spPr/>
    </dgm:pt>
    <dgm:pt modelId="{433ECBC7-29A3-4887-889A-E038DF9B126F}" type="pres">
      <dgm:prSet presAssocID="{2EE94A39-1CFA-4837-9A68-38EAF6C660B3}" presName="sp" presStyleCnt="0"/>
      <dgm:spPr/>
    </dgm:pt>
    <dgm:pt modelId="{3805D339-232E-47A2-9E3B-AD890CEEC805}" type="pres">
      <dgm:prSet presAssocID="{35200787-5283-4A1D-8CC7-D08F2F9C8469}" presName="arrowAndChildren" presStyleCnt="0"/>
      <dgm:spPr/>
    </dgm:pt>
    <dgm:pt modelId="{E7B28C12-3069-4CEC-8AB0-1C15F5609090}" type="pres">
      <dgm:prSet presAssocID="{35200787-5283-4A1D-8CC7-D08F2F9C8469}" presName="parentTextArrow" presStyleLbl="node1" presStyleIdx="2" presStyleCnt="3"/>
      <dgm:spPr/>
    </dgm:pt>
  </dgm:ptLst>
  <dgm:cxnLst>
    <dgm:cxn modelId="{6E14AF4E-FD6B-4616-95EF-618502FE4522}" srcId="{1D4A46D0-F13B-4063-9EF9-B047ED936E78}" destId="{35200787-5283-4A1D-8CC7-D08F2F9C8469}" srcOrd="0" destOrd="0" parTransId="{EACD7093-63ED-4F20-BEF4-E503B855FE6B}" sibTransId="{2EE94A39-1CFA-4837-9A68-38EAF6C660B3}"/>
    <dgm:cxn modelId="{DCEBDDAB-4700-4366-9845-CCD4FF890C13}" type="presOf" srcId="{35200787-5283-4A1D-8CC7-D08F2F9C8469}" destId="{E7B28C12-3069-4CEC-8AB0-1C15F5609090}" srcOrd="0" destOrd="0" presId="urn:microsoft.com/office/officeart/2005/8/layout/process4"/>
    <dgm:cxn modelId="{473BBDAC-B916-4422-8298-6061046BA4ED}" srcId="{1D4A46D0-F13B-4063-9EF9-B047ED936E78}" destId="{96BF9F3C-3F2E-4552-8F68-F2DB403D1D2E}" srcOrd="2" destOrd="0" parTransId="{377AE69E-32DC-4313-9D70-F1386F128131}" sibTransId="{AECB731E-71CD-4548-9F31-0570838A648E}"/>
    <dgm:cxn modelId="{C6D862B9-6387-4535-823C-BE5F7EB17EB3}" srcId="{1D4A46D0-F13B-4063-9EF9-B047ED936E78}" destId="{38F324CF-3F48-4554-ADC7-C393B9658C70}" srcOrd="1" destOrd="0" parTransId="{49432999-D152-4195-9016-31FC7C17FF0E}" sibTransId="{335402B9-46DA-4DCC-9FB3-2044B303D0D5}"/>
    <dgm:cxn modelId="{228020C6-BCEC-4C9D-BA9F-7C873A559598}" type="presOf" srcId="{96BF9F3C-3F2E-4552-8F68-F2DB403D1D2E}" destId="{405D9659-0AED-497C-AA6C-BF4CC746DEDF}" srcOrd="0" destOrd="0" presId="urn:microsoft.com/office/officeart/2005/8/layout/process4"/>
    <dgm:cxn modelId="{4540B2DF-97F8-4D0F-88B1-30A31B85E61F}" type="presOf" srcId="{1D4A46D0-F13B-4063-9EF9-B047ED936E78}" destId="{C57762B1-3952-4C20-83D7-FDD8C2ED1F0B}" srcOrd="0" destOrd="0" presId="urn:microsoft.com/office/officeart/2005/8/layout/process4"/>
    <dgm:cxn modelId="{92AB2AE5-8ED3-439A-8A7E-A1D2C9E7A76D}" type="presOf" srcId="{38F324CF-3F48-4554-ADC7-C393B9658C70}" destId="{9B8CF3D9-8EC6-4278-A7C7-27FBE7F0D635}" srcOrd="0" destOrd="0" presId="urn:microsoft.com/office/officeart/2005/8/layout/process4"/>
    <dgm:cxn modelId="{D461006E-DACC-4F5D-B136-D800CCEF1053}" type="presParOf" srcId="{C57762B1-3952-4C20-83D7-FDD8C2ED1F0B}" destId="{9557B599-23E0-49DE-BAFB-2BF7BAA3293B}" srcOrd="0" destOrd="0" presId="urn:microsoft.com/office/officeart/2005/8/layout/process4"/>
    <dgm:cxn modelId="{C0149A2F-E439-4031-A9D3-DE2E37CEA55E}" type="presParOf" srcId="{9557B599-23E0-49DE-BAFB-2BF7BAA3293B}" destId="{405D9659-0AED-497C-AA6C-BF4CC746DEDF}" srcOrd="0" destOrd="0" presId="urn:microsoft.com/office/officeart/2005/8/layout/process4"/>
    <dgm:cxn modelId="{4D949F8A-C464-4134-8E16-AD379E7EAC5B}" type="presParOf" srcId="{C57762B1-3952-4C20-83D7-FDD8C2ED1F0B}" destId="{617DC7BF-AE97-4AAD-B3A2-F14BF7B8BF39}" srcOrd="1" destOrd="0" presId="urn:microsoft.com/office/officeart/2005/8/layout/process4"/>
    <dgm:cxn modelId="{52F61EB0-C133-4B83-BA19-45C927190C1B}" type="presParOf" srcId="{C57762B1-3952-4C20-83D7-FDD8C2ED1F0B}" destId="{A05952EF-B3A7-4E43-83F7-24FB3036F234}" srcOrd="2" destOrd="0" presId="urn:microsoft.com/office/officeart/2005/8/layout/process4"/>
    <dgm:cxn modelId="{B3372604-71A3-429D-A24D-FE085F3D8814}" type="presParOf" srcId="{A05952EF-B3A7-4E43-83F7-24FB3036F234}" destId="{9B8CF3D9-8EC6-4278-A7C7-27FBE7F0D635}" srcOrd="0" destOrd="0" presId="urn:microsoft.com/office/officeart/2005/8/layout/process4"/>
    <dgm:cxn modelId="{35FC4AB1-7566-4711-B19C-B887369662AD}" type="presParOf" srcId="{C57762B1-3952-4C20-83D7-FDD8C2ED1F0B}" destId="{433ECBC7-29A3-4887-889A-E038DF9B126F}" srcOrd="3" destOrd="0" presId="urn:microsoft.com/office/officeart/2005/8/layout/process4"/>
    <dgm:cxn modelId="{EAB7BF66-EBC2-4911-8C36-AFEE868C8A5A}" type="presParOf" srcId="{C57762B1-3952-4C20-83D7-FDD8C2ED1F0B}" destId="{3805D339-232E-47A2-9E3B-AD890CEEC805}" srcOrd="4" destOrd="0" presId="urn:microsoft.com/office/officeart/2005/8/layout/process4"/>
    <dgm:cxn modelId="{51D2A9CC-290D-4AC3-93F2-C56440E281A0}" type="presParOf" srcId="{3805D339-232E-47A2-9E3B-AD890CEEC805}" destId="{E7B28C12-3069-4CEC-8AB0-1C15F560909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70F95-2BE5-4EC8-A0D1-27ACBD45B610}">
      <dsp:nvSpPr>
        <dsp:cNvPr id="0" name=""/>
        <dsp:cNvSpPr/>
      </dsp:nvSpPr>
      <dsp:spPr>
        <a:xfrm>
          <a:off x="0" y="2894876"/>
          <a:ext cx="6641990" cy="9501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3. Prototípus topológia kiépítése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Routerek, </a:t>
          </a:r>
          <a:r>
            <a:rPr lang="hu-HU" sz="1400" kern="1200" dirty="0" err="1">
              <a:latin typeface="Aldrich" panose="020B0604020202020204" charset="0"/>
            </a:rPr>
            <a:t>switchek</a:t>
          </a:r>
          <a:r>
            <a:rPr lang="hu-HU" sz="1400" kern="1200" dirty="0">
              <a:latin typeface="Aldrich" panose="020B0604020202020204" charset="0"/>
            </a:rPr>
            <a:t> és szerverek elhelyezése; IPv4/IPv6 címzés, DHCP, DNS és OSPF útvonalválasztás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beállítása.</a:t>
          </a:r>
          <a:endParaRPr lang="hu-HU" sz="105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>
        <a:off x="0" y="2894876"/>
        <a:ext cx="6641990" cy="950162"/>
      </dsp:txXfrm>
    </dsp:sp>
    <dsp:sp modelId="{9B8CF3D9-8EC6-4278-A7C7-27FBE7F0D635}">
      <dsp:nvSpPr>
        <dsp:cNvPr id="0" name=""/>
        <dsp:cNvSpPr/>
      </dsp:nvSpPr>
      <dsp:spPr>
        <a:xfrm rot="10800000">
          <a:off x="0" y="1447778"/>
          <a:ext cx="6641990" cy="1461350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u-HU" sz="1400" b="0" i="0" kern="1200" dirty="0">
              <a:latin typeface="Aldrich" panose="020B0604020202020204" charset="0"/>
            </a:rPr>
            <a:t>2. Hálózati követelmények felmérése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i="0" kern="1200" dirty="0">
              <a:latin typeface="Aldrich" panose="020B0604020202020204" charset="0"/>
            </a:rPr>
            <a:t>A munkavállalók és eszközök számának meghatározása; a hálózati topológia és a VLAN-ok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i="0" kern="1200" dirty="0">
              <a:latin typeface="Aldrich" panose="020B0604020202020204" charset="0"/>
            </a:rPr>
            <a:t>megtervezése.</a:t>
          </a:r>
          <a:endParaRPr lang="hu-HU" sz="105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 rot="10800000">
        <a:off x="0" y="1447778"/>
        <a:ext cx="6641990" cy="949541"/>
      </dsp:txXfrm>
    </dsp:sp>
    <dsp:sp modelId="{E7B28C12-3069-4CEC-8AB0-1C15F5609090}">
      <dsp:nvSpPr>
        <dsp:cNvPr id="0" name=""/>
        <dsp:cNvSpPr/>
      </dsp:nvSpPr>
      <dsp:spPr>
        <a:xfrm rot="10800000">
          <a:off x="0" y="0"/>
          <a:ext cx="6641990" cy="1461350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u-HU" sz="1400" b="0" i="0" kern="1200" dirty="0">
              <a:latin typeface="Aldrich" panose="020B0604020202020204" charset="0"/>
            </a:rPr>
            <a:t>1. Cég- és projekttervezés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i="0" kern="1200" dirty="0">
              <a:latin typeface="Aldrich" panose="020B0604020202020204" charset="0"/>
            </a:rPr>
            <a:t>A Datashift Hungary céljainak meghatározása, az irodák és a nyújtott szolgáltatások tervezése.</a:t>
          </a:r>
          <a:endParaRPr lang="hu-HU" sz="105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 rot="10800000">
        <a:off x="0" y="0"/>
        <a:ext cx="6641990" cy="9495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D9659-0AED-497C-AA6C-BF4CC746DEDF}">
      <dsp:nvSpPr>
        <dsp:cNvPr id="0" name=""/>
        <dsp:cNvSpPr/>
      </dsp:nvSpPr>
      <dsp:spPr>
        <a:xfrm>
          <a:off x="0" y="2866891"/>
          <a:ext cx="6641990" cy="9409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6. Dokumentáció és </a:t>
          </a:r>
          <a:r>
            <a:rPr lang="hu-HU" sz="1400" kern="1200" dirty="0" err="1">
              <a:latin typeface="Aldrich" panose="020B0604020202020204" charset="0"/>
            </a:rPr>
            <a:t>presentation</a:t>
          </a:r>
          <a:endParaRPr lang="hu-HU" sz="1400" kern="1200" dirty="0">
            <a:latin typeface="Aldrich" panose="020B060402020202020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Teljes körű dokumentálás Word formátumban, valamint PowerPoint prezentáció készítése és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véglegesítése.</a:t>
          </a:r>
          <a:endParaRPr lang="hu-HU" sz="105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>
        <a:off x="0" y="2866891"/>
        <a:ext cx="6641990" cy="940977"/>
      </dsp:txXfrm>
    </dsp:sp>
    <dsp:sp modelId="{9B8CF3D9-8EC6-4278-A7C7-27FBE7F0D635}">
      <dsp:nvSpPr>
        <dsp:cNvPr id="0" name=""/>
        <dsp:cNvSpPr/>
      </dsp:nvSpPr>
      <dsp:spPr>
        <a:xfrm rot="10800000">
          <a:off x="0" y="1433782"/>
          <a:ext cx="6641990" cy="1447224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5. Tesztelés és hibakeresés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Az irodák közötti (site-</a:t>
          </a:r>
          <a:r>
            <a:rPr lang="hu-HU" sz="1400" kern="1200" dirty="0" err="1">
              <a:latin typeface="Aldrich" panose="020B0604020202020204" charset="0"/>
            </a:rPr>
            <a:t>to</a:t>
          </a:r>
          <a:r>
            <a:rPr lang="hu-HU" sz="1400" kern="1200" dirty="0">
              <a:latin typeface="Aldrich" panose="020B0604020202020204" charset="0"/>
            </a:rPr>
            <a:t>-site) </a:t>
          </a:r>
          <a:r>
            <a:rPr lang="hu-HU" sz="1400" kern="1200" dirty="0" err="1">
              <a:latin typeface="Aldrich" panose="020B0604020202020204" charset="0"/>
            </a:rPr>
            <a:t>connectivity</a:t>
          </a:r>
          <a:r>
            <a:rPr lang="hu-HU" sz="1400" kern="1200" dirty="0">
              <a:latin typeface="Aldrich" panose="020B0604020202020204" charset="0"/>
            </a:rPr>
            <a:t>, az internetelérés és a hálózati szolgáltatások átfogó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tesztelése.</a:t>
          </a:r>
          <a:endParaRPr lang="hu-HU" sz="105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 rot="10800000">
        <a:off x="0" y="1433782"/>
        <a:ext cx="6641990" cy="940363"/>
      </dsp:txXfrm>
    </dsp:sp>
    <dsp:sp modelId="{E7B28C12-3069-4CEC-8AB0-1C15F5609090}">
      <dsp:nvSpPr>
        <dsp:cNvPr id="0" name=""/>
        <dsp:cNvSpPr/>
      </dsp:nvSpPr>
      <dsp:spPr>
        <a:xfrm rot="10800000">
          <a:off x="0" y="673"/>
          <a:ext cx="6641990" cy="1447224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u-HU" sz="1400" kern="1200" dirty="0">
              <a:latin typeface="Aldrich" panose="020B0604020202020204" charset="0"/>
            </a:rPr>
            <a:t>4. Biztonság és szerverek beállítása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Tűzfalak (Cisco ASA), Access </a:t>
          </a:r>
          <a:r>
            <a:rPr lang="hu-HU" sz="1400" kern="1200" dirty="0" err="1">
              <a:latin typeface="Aldrich" panose="020B0604020202020204" charset="0"/>
            </a:rPr>
            <a:t>Control</a:t>
          </a:r>
          <a:r>
            <a:rPr lang="hu-HU" sz="1400" kern="1200" dirty="0">
              <a:latin typeface="Aldrich" panose="020B0604020202020204" charset="0"/>
            </a:rPr>
            <a:t> List-ek (ACL) és VPN </a:t>
          </a:r>
          <a:r>
            <a:rPr lang="hu-HU" sz="1400" kern="1200" dirty="0" err="1">
              <a:latin typeface="Aldrich" panose="020B0604020202020204" charset="0"/>
            </a:rPr>
            <a:t>setup</a:t>
          </a:r>
          <a:r>
            <a:rPr lang="hu-HU" sz="1400" kern="1200" dirty="0">
              <a:latin typeface="Aldrich" panose="020B0604020202020204" charset="0"/>
            </a:rPr>
            <a:t>; Web- és </a:t>
          </a:r>
          <a:r>
            <a:rPr lang="hu-HU" sz="1400" kern="1200" dirty="0" err="1">
              <a:latin typeface="Aldrich" panose="020B0604020202020204" charset="0"/>
            </a:rPr>
            <a:t>Active</a:t>
          </a:r>
          <a:r>
            <a:rPr lang="hu-HU" sz="1400" kern="1200" dirty="0">
              <a:latin typeface="Aldrich" panose="020B0604020202020204" charset="0"/>
            </a:rPr>
            <a:t> </a:t>
          </a:r>
          <a:r>
            <a:rPr lang="hu-HU" sz="1400" kern="1200" dirty="0" err="1">
              <a:latin typeface="Aldrich" panose="020B0604020202020204" charset="0"/>
            </a:rPr>
            <a:t>Directory</a:t>
          </a:r>
          <a:r>
            <a:rPr lang="hu-HU" sz="1400" kern="1200" dirty="0">
              <a:latin typeface="Aldrich" panose="020B0604020202020204" charset="0"/>
            </a:rPr>
            <a:t> szerverek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>
              <a:latin typeface="Aldrich" panose="020B0604020202020204" charset="0"/>
            </a:rPr>
            <a:t>konfigurálása.</a:t>
          </a:r>
          <a:endParaRPr lang="hu-HU" sz="105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 rot="10800000">
        <a:off x="0" y="673"/>
        <a:ext cx="6641990" cy="940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91422" rIns="91422" bIns="9142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>
            <a:spLocks noGrp="1"/>
          </p:cNvSpPr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subTitle" idx="1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5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7704000" cy="25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04" name="Google Shape;70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05" name="Google Shape;705;p15"/>
          <p:cNvGrpSpPr/>
          <p:nvPr/>
        </p:nvGrpSpPr>
        <p:grpSpPr>
          <a:xfrm>
            <a:off x="7564750" y="1350338"/>
            <a:ext cx="3035971" cy="2240336"/>
            <a:chOff x="7564750" y="1350338"/>
            <a:chExt cx="3035971" cy="2240336"/>
          </a:xfrm>
        </p:grpSpPr>
        <p:grpSp>
          <p:nvGrpSpPr>
            <p:cNvPr id="706" name="Google Shape;706;p15"/>
            <p:cNvGrpSpPr/>
            <p:nvPr/>
          </p:nvGrpSpPr>
          <p:grpSpPr>
            <a:xfrm>
              <a:off x="8010366" y="1833648"/>
              <a:ext cx="2590356" cy="1757025"/>
              <a:chOff x="2280775" y="570800"/>
              <a:chExt cx="1702725" cy="1154950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33" name="Google Shape;733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64750" y="2123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13503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61" r:id="rId6"/>
    <p:sldLayoutId id="2147483670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u-HU" dirty="0"/>
              <a:t>Datashift Hungary KFT</a:t>
            </a:r>
            <a:endParaRPr dirty="0"/>
          </a:p>
        </p:txBody>
      </p:sp>
      <p:sp>
        <p:nvSpPr>
          <p:cNvPr id="1412" name="Google Shape;1412;p29"/>
          <p:cNvSpPr txBox="1">
            <a:spLocks noGrp="1"/>
          </p:cNvSpPr>
          <p:nvPr>
            <p:ph type="subTitle" idx="1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dirty="0">
                <a:latin typeface="Aldrich" panose="020B0604020202020204" charset="0"/>
              </a:rPr>
              <a:t>Méhes Ádám, Pálfi Sándor</a:t>
            </a: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257980" y="3515278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1" grpId="0"/>
      <p:bldP spid="141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7FDEA-920D-1042-51DE-A6858563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88013F29-555A-6BE3-99E8-903CFDDF1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68" y="1599459"/>
            <a:ext cx="8511464" cy="2586300"/>
          </a:xfrm>
        </p:spPr>
        <p:txBody>
          <a:bodyPr/>
          <a:lstStyle/>
          <a:p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Három iroda összekapcsolása: Budapest (központ), Debrecen és Pécs hálózati integrációja.</a:t>
            </a:r>
          </a:p>
          <a:p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Központi szerverinfrastruktúra: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Active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Directory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tartományi rendszer és távoli elérésű VPN hálózat kiépítése.</a:t>
            </a:r>
          </a:p>
          <a:p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Biztonságos kommunikáció: Site-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to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-site VPN kapcsolatok létesítése az irodák között.</a:t>
            </a:r>
          </a:p>
          <a:p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Redundancia: Második (L2) és harmadik (L3)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rétegbeli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hálózati redundancia biztosítása.</a:t>
            </a:r>
          </a:p>
          <a:p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Hálózati szegmentáció: VLAN-alapú elkülönítés a biztonság és a hatékony teljesítmény érdekében.</a:t>
            </a:r>
            <a:endParaRPr lang="hu-HU" sz="1600" dirty="0">
              <a:latin typeface="Aldrich" panose="020B0604020202020204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8EFFA3C8-69E0-FFF7-4A6A-2CA9D781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célok</a:t>
            </a:r>
          </a:p>
        </p:txBody>
      </p:sp>
    </p:spTree>
    <p:extLst>
      <p:ext uri="{BB962C8B-B14F-4D97-AF65-F5344CB8AC3E}">
        <p14:creationId xmlns:p14="http://schemas.microsoft.com/office/powerpoint/2010/main" val="313102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4C513C6C-3AD2-16CD-0760-4A5E959A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58676"/>
            <a:ext cx="7704000" cy="572700"/>
          </a:xfrm>
        </p:spPr>
        <p:txBody>
          <a:bodyPr/>
          <a:lstStyle/>
          <a:p>
            <a:r>
              <a:rPr lang="hu-HU" dirty="0"/>
              <a:t>Projekt ütemterv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5A9026B-9DA1-7A3F-A401-60150CEC5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3815793"/>
              </p:ext>
            </p:extLst>
          </p:nvPr>
        </p:nvGraphicFramePr>
        <p:xfrm>
          <a:off x="1251005" y="852755"/>
          <a:ext cx="6641990" cy="3845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Nyíl: lefelé mutató 3">
            <a:extLst>
              <a:ext uri="{FF2B5EF4-FFF2-40B4-BE49-F238E27FC236}">
                <a16:creationId xmlns:a16="http://schemas.microsoft.com/office/drawing/2014/main" id="{EDDBC250-E91B-88F4-0BF9-0539B4A9DCFE}"/>
              </a:ext>
            </a:extLst>
          </p:cNvPr>
          <p:cNvSpPr/>
          <p:nvPr/>
        </p:nvSpPr>
        <p:spPr>
          <a:xfrm>
            <a:off x="4181582" y="4698475"/>
            <a:ext cx="734602" cy="407781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164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7" grpId="0">
        <p:bldAsOne/>
      </p:bldGraphic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BF864-03F3-087C-7128-91F99933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42C4615-B6A1-2D99-3839-0FE506CFE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3501985"/>
              </p:ext>
            </p:extLst>
          </p:nvPr>
        </p:nvGraphicFramePr>
        <p:xfrm>
          <a:off x="1251005" y="513567"/>
          <a:ext cx="6641990" cy="380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013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3B738B44-A87E-24E0-D6F4-41A45AA5E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536" y="1681651"/>
            <a:ext cx="7704000" cy="2747225"/>
          </a:xfrm>
        </p:spPr>
        <p:txBody>
          <a:bodyPr/>
          <a:lstStyle/>
          <a:p>
            <a:pPr marL="152400" indent="0">
              <a:buNone/>
            </a:pP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A Datashift Hungary egy magyar tulajdonú informatikai vállalat, melynek központi székhelye Budapesten található, míg fiókirodái Pécsen és Debrecenben működnek.</a:t>
            </a:r>
          </a:p>
          <a:p>
            <a:pPr marL="152400" indent="0">
              <a:buNone/>
            </a:pPr>
            <a:b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</a:b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Kínált szolgáltatások:</a:t>
            </a:r>
          </a:p>
          <a:p>
            <a:pPr marL="152400" indent="0">
              <a:buNone/>
            </a:pP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• Infrastruktúra: Hálózati infrastruktúra tervezése, kiépítése és karbantartása.</a:t>
            </a:r>
          </a:p>
          <a:p>
            <a:pPr marL="152400" indent="0">
              <a:buNone/>
            </a:pP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• </a:t>
            </a:r>
            <a:r>
              <a:rPr lang="hu-HU" sz="1400" b="1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Kiberbiztonság</a:t>
            </a: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: Adatvédelem, tűzfalbeállítások és biztonságos hálózati architektúrák.</a:t>
            </a:r>
          </a:p>
          <a:p>
            <a:pPr marL="152400" indent="0">
              <a:buNone/>
            </a:pP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• Felhőszolgáltatások: Korszerű felhőalapú megoldások és integráció.</a:t>
            </a:r>
          </a:p>
          <a:p>
            <a:pPr marL="152400" indent="0">
              <a:buNone/>
            </a:pP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• IT tanácsadás: Folyamatos IT támogatás és stratégiák kidolgozása.</a:t>
            </a:r>
          </a:p>
          <a:p>
            <a:pPr marL="152400" indent="0">
              <a:buNone/>
            </a:pP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• Adatelemzés: </a:t>
            </a:r>
            <a:r>
              <a:rPr lang="hu-HU" sz="1400" b="1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Adatvezérelt</a:t>
            </a: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üzleti döntéshozatalt támogató elemzések.</a:t>
            </a:r>
          </a:p>
          <a:p>
            <a:pPr marL="152400" indent="0">
              <a:buNone/>
            </a:pPr>
            <a:b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</a:b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Fő célkitűzés: Modern, </a:t>
            </a:r>
            <a:r>
              <a:rPr lang="hu-HU" sz="1400" b="1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adatvezérelt</a:t>
            </a: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IT megoldások biztosítása magyarországi kis- és középvállalkozások (KKV-k) számára.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0D54006C-6D26-A075-F3DF-4DA107A5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Cégbemutatás</a:t>
            </a:r>
          </a:p>
        </p:txBody>
      </p:sp>
    </p:spTree>
    <p:extLst>
      <p:ext uri="{BB962C8B-B14F-4D97-AF65-F5344CB8AC3E}">
        <p14:creationId xmlns:p14="http://schemas.microsoft.com/office/powerpoint/2010/main" val="298320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AEDED-382D-209A-1E56-55A2DA128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746BAA91-AA23-0A03-8BE0-FE6399047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19" y="2571750"/>
            <a:ext cx="2281631" cy="725988"/>
          </a:xfrm>
        </p:spPr>
        <p:txBody>
          <a:bodyPr/>
          <a:lstStyle/>
          <a:p>
            <a:pPr marL="152400" indent="0">
              <a:buNone/>
            </a:pPr>
            <a:r>
              <a:rPr lang="hu-HU" sz="1400" dirty="0">
                <a:latin typeface="Aldrich" panose="020B0604020202020204" charset="0"/>
              </a:rPr>
              <a:t>Budapest (központ)</a:t>
            </a: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FC2CD76C-4507-30B2-90A6-B91ECB43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Irodák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889309A1-3A61-198A-0B79-C9411F52E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651" y="1244833"/>
            <a:ext cx="5502572" cy="38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8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0740-1D9E-5F9A-CB14-15013C8E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17D50630-379E-56AE-1C0D-DFBA1103C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4451" y="1297147"/>
            <a:ext cx="1852919" cy="307777"/>
          </a:xfrm>
        </p:spPr>
        <p:txBody>
          <a:bodyPr/>
          <a:lstStyle/>
          <a:p>
            <a:pPr marL="152400" indent="0" algn="ctr">
              <a:buNone/>
            </a:pPr>
            <a:r>
              <a:rPr lang="hu-HU" sz="1800" dirty="0">
                <a:latin typeface="Aldrich" panose="020B0604020202020204" charset="0"/>
                <a:cs typeface="Aparajita" panose="020B0502040204020203" pitchFamily="18" charset="0"/>
              </a:rPr>
              <a:t>Debrecen</a:t>
            </a:r>
            <a:endParaRPr lang="hu-HU" sz="1400" dirty="0">
              <a:latin typeface="Aldrich" panose="020B0604020202020204" charset="0"/>
              <a:cs typeface="Aparajita" panose="020B0502040204020203" pitchFamily="18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1C0C9EEE-E1E0-2942-EFBF-A15F57C9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19" y="117846"/>
            <a:ext cx="7704000" cy="572700"/>
          </a:xfrm>
        </p:spPr>
        <p:txBody>
          <a:bodyPr/>
          <a:lstStyle/>
          <a:p>
            <a:r>
              <a:rPr lang="hu-HU" dirty="0"/>
              <a:t>Irodák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010BFEA-B7ED-FCA1-9702-CC3ABBE74592}"/>
              </a:ext>
            </a:extLst>
          </p:cNvPr>
          <p:cNvSpPr txBox="1"/>
          <p:nvPr/>
        </p:nvSpPr>
        <p:spPr>
          <a:xfrm>
            <a:off x="5927461" y="1297147"/>
            <a:ext cx="155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800" dirty="0">
                <a:solidFill>
                  <a:schemeClr val="accent3"/>
                </a:solidFill>
                <a:latin typeface="Aldrich" panose="020B0604020202020204" charset="0"/>
              </a:rPr>
              <a:t>Pécs</a:t>
            </a:r>
            <a:endParaRPr lang="hu-HU" dirty="0">
              <a:solidFill>
                <a:schemeClr val="accent3"/>
              </a:solidFill>
              <a:latin typeface="Aldrich" panose="020B0604020202020204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29DF7673-2ADA-4201-F3FC-4C1BB838E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90" y="1917321"/>
            <a:ext cx="3998410" cy="26604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AEA3CA8-7BE7-EA3C-A150-3DA475443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680" y="1892121"/>
            <a:ext cx="3383730" cy="26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7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56D6C-7886-9373-9724-A3B44209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F47B8664-75E7-F398-F402-941F37A60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20" y="298721"/>
            <a:ext cx="7704000" cy="572700"/>
          </a:xfrm>
        </p:spPr>
        <p:txBody>
          <a:bodyPr/>
          <a:lstStyle/>
          <a:p>
            <a:r>
              <a:rPr lang="hu-HU" dirty="0"/>
              <a:t>Szerverinfrastruktúra részletei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867B071-9278-8DDF-312C-8FF057112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" y="1191186"/>
            <a:ext cx="9072000" cy="33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4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1A88-BFCA-1018-ED60-671C58AC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1388A8E2-DF1A-5FBA-74C0-207F9C17C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143" y="1295772"/>
            <a:ext cx="3047284" cy="2885809"/>
          </a:xfrm>
        </p:spPr>
        <p:txBody>
          <a:bodyPr/>
          <a:lstStyle/>
          <a:p>
            <a:pPr marL="152400" indent="0">
              <a:buNone/>
            </a:pPr>
            <a:r>
              <a:rPr lang="hu-HU" sz="1600" dirty="0">
                <a:solidFill>
                  <a:srgbClr val="FFFFFF"/>
                </a:solidFill>
                <a:latin typeface="Aldrich" panose="020B0604020202020204" charset="0"/>
              </a:rPr>
              <a:t>A vállalatirányítás és a fő szolgáltatások központja. Itt</a:t>
            </a:r>
          </a:p>
          <a:p>
            <a:pPr marL="152400" indent="0">
              <a:buNone/>
            </a:pPr>
            <a:r>
              <a:rPr lang="hu-HU" sz="1600" dirty="0">
                <a:solidFill>
                  <a:srgbClr val="FFFFFF"/>
                </a:solidFill>
                <a:latin typeface="Aldrich" panose="020B0604020202020204" charset="0"/>
              </a:rPr>
              <a:t>található a központi szerverinfrastruktúra, a fiókirodákat támogató szolgáltatások, valamint a</a:t>
            </a:r>
          </a:p>
          <a:p>
            <a:pPr marL="152400" indent="0">
              <a:buNone/>
            </a:pPr>
            <a:r>
              <a:rPr lang="hu-HU" sz="1600" dirty="0">
                <a:solidFill>
                  <a:srgbClr val="FFFFFF"/>
                </a:solidFill>
                <a:latin typeface="Aldrich" panose="020B0604020202020204" charset="0"/>
              </a:rPr>
              <a:t>videókonferencia rendszerek.</a:t>
            </a:r>
            <a:endParaRPr lang="hu-HU" sz="1800" dirty="0">
              <a:latin typeface="Aldrich" panose="020B0604020202020204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1E74617E-2B26-E83A-77B9-E9929D2D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u-HU" dirty="0"/>
              <a:t>Budapesti épület	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F953E55-378D-0110-2B27-8833DD7ED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967" y="2758977"/>
            <a:ext cx="4572000" cy="226249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D1FC616-6D50-6ABB-708D-E30F4F967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861" y="166977"/>
            <a:ext cx="3748212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0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ADD5A6B6-334F-E38B-B2F5-5EF408573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319" y="1129840"/>
            <a:ext cx="2599928" cy="2883820"/>
          </a:xfrm>
        </p:spPr>
        <p:txBody>
          <a:bodyPr/>
          <a:lstStyle/>
          <a:p>
            <a:r>
              <a:rPr lang="hu-HU" dirty="0">
                <a:latin typeface="Aldrich" panose="020B0604020202020204" charset="0"/>
              </a:rPr>
              <a:t>• Feladat: A datashift.hu hivatalos weboldalának </a:t>
            </a:r>
            <a:r>
              <a:rPr lang="hu-HU" dirty="0" err="1">
                <a:latin typeface="Aldrich" panose="020B0604020202020204" charset="0"/>
              </a:rPr>
              <a:t>hostolása</a:t>
            </a:r>
            <a:r>
              <a:rPr lang="hu-HU" dirty="0">
                <a:latin typeface="Aldrich" panose="020B0604020202020204" charset="0"/>
              </a:rPr>
              <a:t>.</a:t>
            </a:r>
          </a:p>
          <a:p>
            <a:r>
              <a:rPr lang="hu-HU" dirty="0">
                <a:latin typeface="Aldrich" panose="020B0604020202020204" charset="0"/>
              </a:rPr>
              <a:t>• Funkciók: Kapcsolati űrlap kezelése és ügyféltámogatás biztosítása.</a:t>
            </a:r>
            <a:endParaRPr lang="hu-HU" dirty="0"/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3C06CD02-D44F-33C7-58BF-2A2A3913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Linux server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1C1E629-8046-058A-B3BA-EBDD0ABFF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3" y="2559549"/>
            <a:ext cx="4536000" cy="230296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00C5A88-9766-44DA-7986-E9D1B90B0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198" y="1828758"/>
            <a:ext cx="5143802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7DABD834-D339-FA30-5C1C-F8FF1E271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9" y="1039603"/>
            <a:ext cx="4420937" cy="1315290"/>
          </a:xfrm>
        </p:spPr>
        <p:txBody>
          <a:bodyPr/>
          <a:lstStyle/>
          <a:p>
            <a:r>
              <a:rPr lang="hu-HU" dirty="0">
                <a:latin typeface="Aldrich" panose="020B0604020202020204" charset="0"/>
              </a:rPr>
              <a:t>• Feladat: Központi címtárszolgáltatás és belső erőforrások kezelése.</a:t>
            </a:r>
          </a:p>
          <a:p>
            <a:r>
              <a:rPr lang="hu-HU" dirty="0">
                <a:latin typeface="Aldrich" panose="020B0604020202020204" charset="0"/>
              </a:rPr>
              <a:t>• Funkciók: </a:t>
            </a:r>
            <a:r>
              <a:rPr lang="hu-HU" dirty="0" err="1">
                <a:latin typeface="Aldrich" panose="020B0604020202020204" charset="0"/>
              </a:rPr>
              <a:t>Active</a:t>
            </a:r>
            <a:r>
              <a:rPr lang="hu-HU" dirty="0">
                <a:latin typeface="Aldrich" panose="020B0604020202020204" charset="0"/>
              </a:rPr>
              <a:t> </a:t>
            </a:r>
            <a:r>
              <a:rPr lang="hu-HU" dirty="0" err="1">
                <a:latin typeface="Aldrich" panose="020B0604020202020204" charset="0"/>
              </a:rPr>
              <a:t>Directory</a:t>
            </a:r>
            <a:r>
              <a:rPr lang="hu-HU" dirty="0">
                <a:latin typeface="Aldrich" panose="020B0604020202020204" charset="0"/>
              </a:rPr>
              <a:t> tartományvezérlő, a Datashift Hungary belső webes portáljának és</a:t>
            </a:r>
          </a:p>
          <a:p>
            <a:r>
              <a:rPr lang="hu-HU" dirty="0">
                <a:latin typeface="Aldrich" panose="020B0604020202020204" charset="0"/>
              </a:rPr>
              <a:t>eszközeinek </a:t>
            </a:r>
            <a:r>
              <a:rPr lang="hu-HU" dirty="0" err="1">
                <a:latin typeface="Aldrich" panose="020B0604020202020204" charset="0"/>
              </a:rPr>
              <a:t>hostolása</a:t>
            </a:r>
            <a:r>
              <a:rPr lang="hu-HU" dirty="0">
                <a:latin typeface="Aldrich" panose="020B0604020202020204" charset="0"/>
              </a:rPr>
              <a:t>, valamint távoli elérésű VPN biztosítása a munkavállalók számára.</a:t>
            </a:r>
            <a:endParaRPr lang="hu-HU" dirty="0"/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84DDF901-3CBD-2871-6721-AB17C9B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Windows server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BA77042-5555-FBF8-91CA-D4C471414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468" y="2460141"/>
            <a:ext cx="4420938" cy="25920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798CCEB-357D-19BE-578B-475C905D6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1" y="1763347"/>
            <a:ext cx="4625827" cy="328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4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A2AF-05B5-D25D-3A93-49C0648E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41A90779-1E5D-1E1E-2BAE-07F2B10C7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15" y="1462845"/>
            <a:ext cx="3925160" cy="1308167"/>
          </a:xfrm>
        </p:spPr>
        <p:txBody>
          <a:bodyPr/>
          <a:lstStyle/>
          <a:p>
            <a:r>
              <a:rPr lang="hu-HU" sz="2000" dirty="0">
                <a:latin typeface="Aldrich" panose="020B0604020202020204" charset="0"/>
              </a:rPr>
              <a:t>Regionális központ, amely Debrecenben és a szomszédos régiókban biztosítja</a:t>
            </a:r>
          </a:p>
          <a:p>
            <a:r>
              <a:rPr lang="hu-HU" sz="2000" dirty="0">
                <a:latin typeface="Aldrich" panose="020B0604020202020204" charset="0"/>
              </a:rPr>
              <a:t>a cég szolgáltatásait.</a:t>
            </a: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7F20C2FD-98FF-CBA8-638A-E0D17E28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u-HU" dirty="0"/>
              <a:t>Debreceni iroda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225BE72-065F-BBC8-1B6F-281892D06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717" y="3009811"/>
            <a:ext cx="4622867" cy="1872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0C5D2B8-9688-C520-1F8A-BFFF6AAF6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426" y="261689"/>
            <a:ext cx="3855600" cy="256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0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FCF92-7FFA-E297-440C-F1C057E7D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1FA4B961-4F5F-EC61-CE5F-61B4CE1C6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043" y="1282673"/>
            <a:ext cx="3783755" cy="1071977"/>
          </a:xfrm>
        </p:spPr>
        <p:txBody>
          <a:bodyPr/>
          <a:lstStyle/>
          <a:p>
            <a:r>
              <a:rPr lang="hu-HU" sz="2000" dirty="0">
                <a:latin typeface="Aldrich" panose="020B0604020202020204" charset="0"/>
              </a:rPr>
              <a:t>Regionális központ, amely Pécsen és a környező területeken látja el az ügyfeleket.</a:t>
            </a: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8E41595F-07E0-54C9-8D87-E963E9A0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u-HU" dirty="0"/>
              <a:t>Pécs iroda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E812C1A-B427-C3F1-1C58-30BCD06FF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057" y="2812576"/>
            <a:ext cx="4618630" cy="2196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83D6FAD-62E4-17B7-2BEF-993457B24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387" y="40576"/>
            <a:ext cx="3492605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2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B7C0AD8C-70D9-BDF0-0BDE-35152C49C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349511"/>
            <a:ext cx="7704000" cy="2444478"/>
          </a:xfrm>
        </p:spPr>
        <p:txBody>
          <a:bodyPr/>
          <a:lstStyle/>
          <a:p>
            <a:r>
              <a:rPr lang="hu-HU" sz="6600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43974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443</Words>
  <Application>Microsoft Office PowerPoint</Application>
  <PresentationFormat>Diavetítés a képernyőre (16:9 oldalarány)</PresentationFormat>
  <Paragraphs>58</Paragraphs>
  <Slides>14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8" baseType="lpstr">
      <vt:lpstr>Arial</vt:lpstr>
      <vt:lpstr>Saira</vt:lpstr>
      <vt:lpstr>Aldrich</vt:lpstr>
      <vt:lpstr>Information Technology Project Proposal by Slidesgo</vt:lpstr>
      <vt:lpstr>Datashift Hungary KFT</vt:lpstr>
      <vt:lpstr>Projekt célok</vt:lpstr>
      <vt:lpstr>Projekt ütemterv</vt:lpstr>
      <vt:lpstr>PowerPoint-bemutató</vt:lpstr>
      <vt:lpstr>Cégbemutatás</vt:lpstr>
      <vt:lpstr>Irodák</vt:lpstr>
      <vt:lpstr>Irodák</vt:lpstr>
      <vt:lpstr>Szerverinfrastruktúra részletei</vt:lpstr>
      <vt:lpstr>Budapesti épület </vt:lpstr>
      <vt:lpstr>Linux server</vt:lpstr>
      <vt:lpstr>Windows server</vt:lpstr>
      <vt:lpstr>Debreceni iroda</vt:lpstr>
      <vt:lpstr>Pécs iroda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Bali Kristóf</dc:creator>
  <cp:lastModifiedBy>Adam Mehes</cp:lastModifiedBy>
  <cp:revision>44</cp:revision>
  <cp:lastPrinted>2026-09-15T05:20:22Z</cp:lastPrinted>
  <dcterms:modified xsi:type="dcterms:W3CDTF">2026-09-15T05:32:32Z</dcterms:modified>
</cp:coreProperties>
</file>